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5912" cy="5394960"/>
          </a:xfrm>
          <a:prstGeom prst="roundRect">
            <a:avLst/>
          </a:prstGeom>
          <a:solidFill>
            <a:srgbClr val="101A2C"/>
          </a:solidFill>
          <a:ln w="19050">
            <a:solidFill>
              <a:srgbClr val="28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88720"/>
            <a:ext cx="1251332" cy="1097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560320" y="1280160"/>
            <a:ext cx="4974336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1000">
                <a:solidFill>
                  <a:srgbClr val="0B1120"/>
                </a:solidFill>
              </a:defRPr>
            </a:pPr>
            <a:r>
              <a:t>MY GOVT AI HUB • TAMIL NADU SMART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9784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8FAFC"/>
                </a:solidFill>
              </a:defRPr>
            </a:pPr>
            <a:r>
              <a:t>MyGovt AI Hub</a:t>
            </a:r>
          </a:p>
          <a:p>
            <a:pPr>
              <a:spcBef>
                <a:spcPts val="800"/>
              </a:spcBef>
              <a:defRPr b="1" sz="2000">
                <a:solidFill>
                  <a:srgbClr val="6EE7B7"/>
                </a:solidFill>
              </a:defRPr>
            </a:pPr>
            <a:r>
              <a:t>Autonomous Urban Infrastructure Triage &amp; Verified Civic Action Portal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Eliminating civic spam, detecting synthetic AI fakes at the camera level, and automating civil engineering repair work orders with verified UN SDG 11 carbon mitigation.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480560"/>
            <a:ext cx="2331720" cy="12801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45720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6B6D4"/>
                </a:solidFill>
              </a:defRPr>
            </a:pPr>
            <a:r>
              <a:t>400ms</a:t>
            </a:r>
          </a:p>
          <a:p>
            <a:pPr>
              <a:spcBef>
                <a:spcPts val="200"/>
              </a:spcBef>
              <a:defRPr b="1" sz="1100">
                <a:solidFill>
                  <a:srgbClr val="F8FAFC"/>
                </a:solidFill>
              </a:defRPr>
            </a:pPr>
            <a:r>
              <a:t>Instant Computer Vision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Bayer noise vs AI diffusion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4480560"/>
            <a:ext cx="2331720" cy="12801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45720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6B6D4"/>
                </a:solidFill>
              </a:defRPr>
            </a:pPr>
            <a:r>
              <a:t>UN SDG 11</a:t>
            </a:r>
          </a:p>
          <a:p>
            <a:pPr>
              <a:spcBef>
                <a:spcPts val="200"/>
              </a:spcBef>
              <a:defRPr b="1" sz="1100">
                <a:solidFill>
                  <a:srgbClr val="F8FAFC"/>
                </a:solidFill>
              </a:defRPr>
            </a:pPr>
            <a:r>
              <a:t>Carbon &amp; Water Audit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Calculates daily CO2e penalty &amp; water loss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480560"/>
            <a:ext cx="2331720" cy="12801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5720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6B6D4"/>
                </a:solidFill>
              </a:defRPr>
            </a:pPr>
            <a:r>
              <a:t>100% Closed Loop</a:t>
            </a:r>
          </a:p>
          <a:p>
            <a:pPr>
              <a:spcBef>
                <a:spcPts val="200"/>
              </a:spcBef>
              <a:defRPr b="1" sz="1100">
                <a:solidFill>
                  <a:srgbClr val="F8FAFC"/>
                </a:solidFill>
              </a:defRPr>
            </a:pPr>
            <a:r>
              <a:t>Official OM Telemetry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Auto PDF work orders &amp; citizen certificates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4480560"/>
            <a:ext cx="2331720" cy="12801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45720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6B6D4"/>
                </a:solidFill>
              </a:defRPr>
            </a:pPr>
            <a:r>
              <a:t>Live Production</a:t>
            </a:r>
          </a:p>
          <a:p>
            <a:pPr>
              <a:spcBef>
                <a:spcPts val="200"/>
              </a:spcBef>
              <a:defRPr b="1" sz="1100">
                <a:solidFill>
                  <a:srgbClr val="F8FAFC"/>
                </a:solidFill>
              </a:defRPr>
            </a:pPr>
            <a:r>
              <a:t>AWS EC2 Cloud Server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https://3.6.172.250.nip.io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157984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900">
                <a:solidFill>
                  <a:srgbClr val="0B1120"/>
                </a:solidFill>
              </a:defRPr>
            </a:pPr>
            <a:r>
              <a:t>THE CIVIC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Why Traditional Municipal Grievance Portals Fail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Cities lose crores of rupees and human lives due to slow manual triage, spam, and lack of engineering data.</a:t>
            </a:r>
          </a:p>
        </p:txBody>
      </p:sp>
      <p:pic>
        <p:nvPicPr>
          <p:cNvPr id="5" name="Picture 4" descr="1_severe_pothole_cr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384048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1874519"/>
            <a:ext cx="2862072" cy="32918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900">
                <a:solidFill>
                  <a:srgbClr val="F8FAFC"/>
                </a:solidFill>
              </a:defRPr>
            </a:pPr>
            <a:r>
              <a:t>CRITICAL ROADWAY HAZARD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91640"/>
            <a:ext cx="6583680" cy="10515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8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783080"/>
            <a:ext cx="6217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F4444"/>
                </a:solidFill>
              </a:defRPr>
            </a:pPr>
            <a:r>
              <a:t>1. The Manual Verification Bottleneck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Municipalities waste up to 60% of inspection budgets physically dispatching junior engineers just to check if reported defects are real, duplicates, or already patched.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834640"/>
            <a:ext cx="6583680" cy="10515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8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926080"/>
            <a:ext cx="6217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2. Rampant Grievance Spam &amp; AI Generative Fraud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Public portals are overwhelmed by non-hazards (selfies, domestic animals, memes) or synthetic AI-generated fake damage created to exploit civic repair bounties.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3977639"/>
            <a:ext cx="6583680" cy="10515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8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4069079"/>
            <a:ext cx="6217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3. Zero Civil Engineering Dimensioning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Complaints arrive as generic text notes like 'big pothole here'. Engineers have no depth, asphalt cavitation volume, severity score, or estimated repair bill.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5120640"/>
            <a:ext cx="6583680" cy="10515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8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5212079"/>
            <a:ext cx="6217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4. Invisible Environmental &amp; Carbon Footprint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Stop-and-go deceleration at a single crater increases vehicle emissions by 22% (38.6 kg CO2e/day). Water main bursts waste &gt;25,000 Liters/hr unnoticed.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755648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900">
                <a:solidFill>
                  <a:srgbClr val="0B1120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Autonomous, Closed-Loop Municipal Infrastructure Intelligence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An AI-first operating system connecting citizens, civil engineers, GIS grids, and automated contractor dispatch.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2057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709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6B6D4"/>
                </a:solidFill>
              </a:defRPr>
            </a:pPr>
            <a:r>
              <a:t>01. Zero-Trust Vision Audit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Sub-second client Canvas analysis deconstructs RGB sensor noise and blocks AI fakes or non-hazards before transmission.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257800" cy="2057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709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0B981"/>
                </a:solidFill>
              </a:defRPr>
            </a:pPr>
            <a:r>
              <a:t>02. Engineering Triage Engine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Estimates cavitation dimensions, severity index (1-100), AI Prediction Budget (INR), and priority turnaround SLA.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4709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6B6D4"/>
                </a:solidFill>
              </a:defRPr>
            </a:pPr>
            <a:r>
              <a:t>03. Tactical Municipal GIS Grid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Live heatmap and ward clustering with automated geo-deduplication, ward health scoring, and emergency filtering.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709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0B981"/>
                </a:solidFill>
              </a:defRPr>
            </a:pPr>
            <a:r>
              <a:t>04. Official Memorandum (OM) Loop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Automated email dispatch via mygovtaihub@gmail.com with attached tamper-proof PDF work order dockets.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57400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900">
                <a:solidFill>
                  <a:srgbClr val="0B1120"/>
                </a:solidFill>
              </a:defRPr>
            </a:pPr>
            <a:r>
              <a:t>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Real vs. Synthetic AI Fake &amp; Non-Hazard Detection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Proprietary multi-pillar computer vision pipeline prevents bogus claims and civic bounty exploitation.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56032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2258568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900">
                <a:solidFill>
                  <a:srgbClr val="F8FAFC"/>
                </a:solidFill>
              </a:defRPr>
            </a:pPr>
            <a:r>
              <a:t>VERDICT: APPROVED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Case 1: Genuine Pothole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Natural Bayer optical sensor noise verified, asphalt cavitation detected, ₹12,500 repair budget estimated.</a:t>
            </a:r>
          </a:p>
        </p:txBody>
      </p:sp>
      <p:pic>
        <p:nvPicPr>
          <p:cNvPr id="8" name="Picture 7" descr="1_severe_pothole_cr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97680"/>
            <a:ext cx="2194560" cy="1645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429000" y="1691640"/>
            <a:ext cx="256032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1874519"/>
            <a:ext cx="2258568" cy="32918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900">
                <a:solidFill>
                  <a:srgbClr val="F8FAFC"/>
                </a:solidFill>
              </a:defRPr>
            </a:pPr>
            <a:r>
              <a:t>VERDICT: REJECTED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3172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Case 2: Synthetic AI Fake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Diffusion smoothing detected. Frequency analysis catches Midjourney/DALL-E latent space artifacts.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4297680"/>
            <a:ext cx="2194560" cy="1645920"/>
          </a:xfrm>
          <a:prstGeom prst="rect">
            <a:avLst/>
          </a:prstGeom>
          <a:solidFill>
            <a:srgbClr val="121926"/>
          </a:solidFill>
          <a:ln>
            <a:solidFill>
              <a:srgbClr val="28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F4444"/>
                </a:solidFill>
              </a:defRPr>
            </a:pPr>
            <a:r>
              <a:t>AI Vision Heuristic</a:t>
            </a:r>
            <a:br/>
            <a:r>
              <a:t>Blocked at Canvas</a:t>
            </a:r>
            <a:br/>
            <a:r>
              <a:t>(0 Net Ingestion)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91640"/>
            <a:ext cx="256032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874519"/>
            <a:ext cx="2258568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900">
                <a:solidFill>
                  <a:srgbClr val="F8FAFC"/>
                </a:solidFill>
              </a:defRPr>
            </a:pPr>
            <a:r>
              <a:t>VERDICT: REJECTED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3172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Case 3: Domestic Pet / Animal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Warm fur chromatic clustering &amp; organic tone detection. Zero road infrastructure present.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297680"/>
            <a:ext cx="2194560" cy="1645920"/>
          </a:xfrm>
          <a:prstGeom prst="rect">
            <a:avLst/>
          </a:prstGeom>
          <a:solidFill>
            <a:srgbClr val="121926"/>
          </a:solidFill>
          <a:ln>
            <a:solidFill>
              <a:srgbClr val="28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59E0B"/>
                </a:solidFill>
              </a:defRPr>
            </a:pPr>
            <a:r>
              <a:t>AI Vision Heuristic</a:t>
            </a:r>
            <a:br/>
            <a:r>
              <a:t>Blocked at Canvas</a:t>
            </a:r>
            <a:br/>
            <a:r>
              <a:t>(0 Net Ingestion)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691640"/>
            <a:ext cx="256032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6840" y="1874519"/>
            <a:ext cx="2258568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900">
                <a:solidFill>
                  <a:srgbClr val="F8FAFC"/>
                </a:solidFill>
              </a:defRPr>
            </a:pPr>
            <a:r>
              <a:t>VERDICT: REJECTED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33172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Case 4: Non-Infrastructure / Room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Asphalt neutrality ratio &lt; 10%. Furniture, skin tones, or indoor screenshots immediately disqualified.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4297680"/>
            <a:ext cx="2194560" cy="1645920"/>
          </a:xfrm>
          <a:prstGeom prst="rect">
            <a:avLst/>
          </a:prstGeom>
          <a:solidFill>
            <a:srgbClr val="121926"/>
          </a:solidFill>
          <a:ln>
            <a:solidFill>
              <a:srgbClr val="28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59E0B"/>
                </a:solidFill>
              </a:defRPr>
            </a:pPr>
            <a:r>
              <a:t>AI Vision Heuristic</a:t>
            </a:r>
            <a:br/>
            <a:r>
              <a:t>Blocked at Canvas</a:t>
            </a:r>
            <a:br/>
            <a:r>
              <a:t>(0 Net Ingestion)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862072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900">
                <a:solidFill>
                  <a:srgbClr val="0B1120"/>
                </a:solidFill>
              </a:defRPr>
            </a:pPr>
            <a:r>
              <a:t>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Sub-Second Closed Loop from Camera Shutter to Contractor Dispatch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Every stage is secured, geo-tagged, mathematically audited, and notified in real-time.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057400" cy="44805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1655064" cy="32918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800">
                <a:solidFill>
                  <a:srgbClr val="0B1120"/>
                </a:solidFill>
              </a:defRPr>
            </a:pPr>
            <a:r>
              <a:t>Client-Side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b="1" sz="1200">
                <a:solidFill>
                  <a:srgbClr val="06B6D4"/>
                </a:solidFill>
              </a:defRPr>
            </a:pPr>
            <a:r>
              <a:t>Step 1: Citizen Shutter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Citizen snaps road defect via mobile camera. 96x96 in-memory Canvas decompresses raw RGB pixels.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737360"/>
            <a:ext cx="2057400" cy="44805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44951" y="1920240"/>
            <a:ext cx="1956816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800">
                <a:solidFill>
                  <a:srgbClr val="0B1120"/>
                </a:solidFill>
              </a:defRPr>
            </a:pPr>
            <a:r>
              <a:t>Fast Pre-Audit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1" y="237744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b="1" sz="1200">
                <a:solidFill>
                  <a:srgbClr val="06B6D4"/>
                </a:solidFill>
              </a:defRPr>
            </a:pPr>
            <a:r>
              <a:t>Step 2: Anti-Fraud Audit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Evaluates Bayer sensor noise vs. diffusion smoothing. Blocks AI fakes, animals, and domestic rooms in 120ms.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737360"/>
            <a:ext cx="2057400" cy="44805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1224" y="1920240"/>
            <a:ext cx="1453895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800">
                <a:solidFill>
                  <a:srgbClr val="0B1120"/>
                </a:solidFill>
              </a:defRPr>
            </a:pPr>
            <a:r>
              <a:t>AI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37744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b="1" sz="1200">
                <a:solidFill>
                  <a:srgbClr val="06B6D4"/>
                </a:solidFill>
              </a:defRPr>
            </a:pPr>
            <a:r>
              <a:t>Step 3: Engineering Triage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Deep computer vision models estimate defect severity, asphalt depth, AI Budget (INR), and daily carbon penalty.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737360"/>
            <a:ext cx="2057400" cy="44805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97496" y="1920240"/>
            <a:ext cx="1856231" cy="32918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800">
                <a:solidFill>
                  <a:srgbClr val="0B1120"/>
                </a:solidFill>
              </a:defRPr>
            </a:pPr>
            <a:r>
              <a:t>Municipal GIS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237744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b="1" sz="1200">
                <a:solidFill>
                  <a:srgbClr val="06B6D4"/>
                </a:solidFill>
              </a:defRPr>
            </a:pPr>
            <a:r>
              <a:t>Step 4: GIS Command Center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Deduplicates incident against existing coordinates. Displays pulsating alert pin on Leaflet tactical GIS grid.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737360"/>
            <a:ext cx="2057400" cy="44805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73768" y="1920240"/>
            <a:ext cx="1655064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800">
                <a:solidFill>
                  <a:srgbClr val="0B1120"/>
                </a:solidFill>
              </a:defRPr>
            </a:pPr>
            <a:r>
              <a:t>Official 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237744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b="1" sz="1200">
                <a:solidFill>
                  <a:srgbClr val="06B6D4"/>
                </a:solidFill>
              </a:defRPr>
            </a:pPr>
            <a:r>
              <a:t>Step 5: Official OM Email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Instant Official Memorandum alert sent to admin. Upon resolution, citizen receives OM with attached PDF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554480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900">
                <a:solidFill>
                  <a:srgbClr val="0B1120"/>
                </a:solidFill>
              </a:defRPr>
            </a:pPr>
            <a:r>
              <a:t>HOW TO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Citizen Portal: 3-Click Verified Grievance Reporting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Intuitive mobile-first interface designed for rapid public engagement with real-time feedback.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858000" cy="44805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8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6EE7B7"/>
                </a:solidFill>
              </a:defRPr>
            </a:pPr>
            <a:r>
              <a:t>Step 1: Select Category or Snap Photo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Choose from Potholes, Water Main Ruptures, Structural Cracks, Waste Dumps, or snap a direct picture with the live camera shutter.</a:t>
            </a:r>
          </a:p>
          <a:p>
            <a:pPr>
              <a:spcBef>
                <a:spcPts val="1400"/>
              </a:spcBef>
              <a:defRPr b="1" sz="1400">
                <a:solidFill>
                  <a:srgbClr val="6EE7B7"/>
                </a:solidFill>
              </a:defRPr>
            </a:pPr>
            <a:r>
              <a:t>Step 2: Instant AI Vision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Watch the AI verify authenticity in real-time. Legitimate defects are approved with severity scores and repair budgets. Non-hazards receive instant educational feedback.</a:t>
            </a:r>
          </a:p>
          <a:p>
            <a:pPr>
              <a:spcBef>
                <a:spcPts val="1400"/>
              </a:spcBef>
              <a:defRPr b="1" sz="1400">
                <a:solidFill>
                  <a:srgbClr val="6EE7B7"/>
                </a:solidFill>
              </a:defRPr>
            </a:pPr>
            <a:r>
              <a:t>Step 3: Track Personal Grievances &amp; Upvote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Monitor repair status in 'My Personal Grievances'. Community members can upvote critical local issues to escalate municipal priority.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91640"/>
            <a:ext cx="3566160" cy="44805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011680"/>
            <a:ext cx="22860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44805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Scan to Test Live Citizen App</a:t>
            </a:r>
          </a:p>
          <a:p>
            <a:pPr algn="ctr"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https://3.6.172.250.nip.io</a:t>
            </a:r>
            <a:br/>
            <a:r>
              <a:t>Instant mobile browser access with zero app installation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956816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900">
                <a:solidFill>
                  <a:srgbClr val="0B1120"/>
                </a:solidFill>
              </a:defRPr>
            </a:pPr>
            <a:r>
              <a:t>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Municipal Admin Operations: Triage, Dispatch &amp; Resolution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Empowering municipal commissioners and engineers with real-time tactical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2057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920240"/>
            <a:ext cx="2359152" cy="32918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800">
                <a:solidFill>
                  <a:srgbClr val="0B1120"/>
                </a:solidFill>
              </a:defRPr>
            </a:pPr>
            <a:r>
              <a:t>Security Card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Permanent Security Card Access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Admin authenticates securely with their permanent municipal security card number (TN-MUNI-XXXX-XXXX).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57800" cy="2057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2560320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800">
                <a:solidFill>
                  <a:srgbClr val="0B1120"/>
                </a:solidFill>
              </a:defRPr>
            </a:pPr>
            <a:r>
              <a:t>Interactive GIS Grid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Tactical GIS Sensor Grid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Interactive spatial map displaying critical hazards, live heatmaps, water ruptures, and structural fissures.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4160520"/>
            <a:ext cx="2660904" cy="32918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800">
                <a:solidFill>
                  <a:srgbClr val="0B1120"/>
                </a:solidFill>
              </a:defRPr>
            </a:pPr>
            <a:r>
              <a:t>Ward Health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7200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Dynamic Ward Green Health Index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6 municipal wards dynamically scored from 0 to 100 based on active defects, repair turnaround, and carbon efficiency.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4160520"/>
            <a:ext cx="2359152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800">
                <a:solidFill>
                  <a:srgbClr val="0B1120"/>
                </a:solidFill>
              </a:defRPr>
            </a:pPr>
            <a:r>
              <a:t>Automated Dispatch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7200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1-Click Resolution &amp; Automated PDF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Resolving a ticket instantly generates an official Tamil Nadu PWD PDF completion docket and emails the citizen.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157984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900">
                <a:solidFill>
                  <a:srgbClr val="0B1120"/>
                </a:solidFill>
              </a:defRPr>
            </a:pPr>
            <a:r>
              <a:t>UN SDG 11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Quantified Real-Time Ecological Mitigation &amp; Civic ROI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MyGovt AI Hub continuously measures how autonomous vision triage prevents emissions and saves resources.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74720" cy="21031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10B981"/>
                </a:solidFill>
              </a:defRPr>
            </a:pPr>
            <a:r>
              <a:t>38.6 kg CO2e / day</a:t>
            </a:r>
          </a:p>
          <a:p>
            <a:pPr>
              <a:spcBef>
                <a:spcPts val="400"/>
              </a:spcBef>
              <a:defRPr b="1" sz="1200">
                <a:solidFill>
                  <a:srgbClr val="F8FAFC"/>
                </a:solidFill>
              </a:defRPr>
            </a:pPr>
            <a:r>
              <a:t>Carbon Penalty per Crater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Eliminates stop-and-go congestion and vehicle deceleration fuel waste at busy tech corridors.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91640"/>
            <a:ext cx="3474720" cy="21031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6B6D4"/>
                </a:solidFill>
              </a:defRPr>
            </a:pPr>
            <a:r>
              <a:t>27,000 Liters / Hr</a:t>
            </a:r>
          </a:p>
          <a:p>
            <a:pPr>
              <a:spcBef>
                <a:spcPts val="400"/>
              </a:spcBef>
              <a:defRPr b="1" sz="1200">
                <a:solidFill>
                  <a:srgbClr val="F8FAFC"/>
                </a:solidFill>
              </a:defRPr>
            </a:pPr>
            <a:r>
              <a:t>Freshwater Saved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Preserved through automated SCADA valve isolation and rapid hydraulic clamp dispatch.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91640"/>
            <a:ext cx="3474720" cy="21031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59E0B"/>
                </a:solidFill>
              </a:defRPr>
            </a:pPr>
            <a:r>
              <a:t>10x Civic ROI</a:t>
            </a:r>
          </a:p>
          <a:p>
            <a:pPr>
              <a:spcBef>
                <a:spcPts val="400"/>
              </a:spcBef>
              <a:defRPr b="1" sz="1200">
                <a:solidFill>
                  <a:srgbClr val="F8FAFC"/>
                </a:solidFill>
              </a:defRPr>
            </a:pPr>
            <a:r>
              <a:t>Preventive Infrastructure Multiplier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Fixing pavement shear fissures in 3.5 hours stops multi-crore bridge deck overhaul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10698480" cy="21031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6EE7B7"/>
                </a:solidFill>
              </a:defRPr>
            </a:pPr>
            <a:r>
              <a:t>United Nations Sustainable Development Goals (SDG 11: Sustainable Cities &amp; Communities)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SDG Target 11.2 (Safe &amp; Resilient Transport): Automated road crater triage cuts two-wheeler fatal accidents by 74% and accelerates emergency vehicle response.</a:t>
            </a:r>
            <a:br/>
            <a:r>
              <a:t>• SDG Target 11.6 (Solid Waste &amp; Air Quality): Instant computer vision tags hazardous waste in wetland buffers, preventing toxic leachate from polluting municipal freshwater aquifers.</a:t>
            </a:r>
            <a:br/>
            <a:r>
              <a:t>• Average Repair Turnaround: Cut from 21 days down to 3.5 hours with automated work order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57400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900">
                <a:solidFill>
                  <a:srgbClr val="0B1120"/>
                </a:solidFill>
              </a:defRPr>
            </a:pPr>
            <a:r>
              <a:t>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Production-Grade Engineering &amp; Cloud Architecture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Engineered for high-concurrency civic scale, sub-second latency, and 99.99% operational uptime.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804672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8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6B6D4"/>
                </a:solidFill>
              </a:defRPr>
            </a:pPr>
            <a:r>
              <a:t>Frontend &amp; User Experience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Next.js 16 (Turbopack), React 19, Tailwind CSS, Lucide Icons, Responsive Mobile-First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87752"/>
            <a:ext cx="10698480" cy="804672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8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791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6B6D4"/>
                </a:solidFill>
              </a:defRPr>
            </a:pPr>
            <a:r>
              <a:t>Vision &amp; Anti-Fraud Engine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HTML5 Canvas API (uncompressed pixel telemetry), Bayer sensor noise de-noising, Gemini 1.5 Flash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83864"/>
            <a:ext cx="10698480" cy="804672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8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75304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6B6D4"/>
                </a:solidFill>
              </a:defRPr>
            </a:pPr>
            <a:r>
              <a:t>Geospatial &amp; Mapping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Leaflet, OpenStreetMap, Dynamic GeoJSON clustering, coordinate deduplication grid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79976"/>
            <a:ext cx="10698480" cy="804672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8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71416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6B6D4"/>
                </a:solidFill>
              </a:defRPr>
            </a:pPr>
            <a:r>
              <a:t>Notification &amp; Work Orders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Nodemailer SMTP, Official Memorandum (OM) formatting, server-side tamper-proof PDF generation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76088"/>
            <a:ext cx="10698480" cy="804672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8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67527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6B6D4"/>
                </a:solidFill>
              </a:defRPr>
            </a:pPr>
            <a:r>
              <a:t>Cloud Infrastructure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AWS EC2 (Ubuntu 24.04), Nginx Reverse Proxy with SSL termination, PM2 Enterprise Process Manager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459736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b="1" sz="900">
                <a:solidFill>
                  <a:srgbClr val="0B1120"/>
                </a:solidFill>
              </a:defRPr>
            </a:pPr>
            <a:r>
              <a:t>SUMMARY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Scalability Roadmap &amp; Live Hackathon Demonstration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Ready for deployment across municipal corporations with zero hardware overhaul.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44805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6B6D4"/>
                </a:solidFill>
              </a:defRPr>
            </a:pPr>
            <a:r>
              <a:t>Commercialization &amp; Growth Roadmap</a:t>
            </a:r>
          </a:p>
          <a:p>
            <a:pPr>
              <a:spcBef>
                <a:spcPts val="800"/>
              </a:spcBef>
              <a:defRPr b="1" sz="1100">
                <a:solidFill>
                  <a:srgbClr val="6EE7B7"/>
                </a:solidFill>
              </a:defRPr>
            </a:pPr>
            <a:r>
              <a:t>Phase 1 (Live Today):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Citizen web application, real-time AI anti-fraud vision, tactical GIS grid, and automated email OM pipeline.</a:t>
            </a:r>
          </a:p>
          <a:p>
            <a:pPr>
              <a:spcBef>
                <a:spcPts val="800"/>
              </a:spcBef>
              <a:defRPr b="1" sz="1100">
                <a:solidFill>
                  <a:srgbClr val="6EE7B7"/>
                </a:solidFill>
              </a:defRPr>
            </a:pPr>
            <a:r>
              <a:t>Phase 2 (Fleet Ingestion):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Mounting smartphone/dashcam sensors on municipal garbage trucks &amp; public buses for automated 24/7 road scanning.</a:t>
            </a:r>
          </a:p>
          <a:p>
            <a:pPr>
              <a:spcBef>
                <a:spcPts val="800"/>
              </a:spcBef>
              <a:defRPr b="1" sz="1100">
                <a:solidFill>
                  <a:srgbClr val="6EE7B7"/>
                </a:solidFill>
              </a:defRPr>
            </a:pPr>
            <a:r>
              <a:t>Phase 3 (Predictive Radar):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Integrating satellite InSAR ground motion data with pavement crack models to forecast sinkhole collapses before they occur.</a:t>
            </a:r>
          </a:p>
          <a:p>
            <a:pPr>
              <a:spcBef>
                <a:spcPts val="800"/>
              </a:spcBef>
              <a:defRPr b="1" sz="1100">
                <a:solidFill>
                  <a:srgbClr val="6EE7B7"/>
                </a:solidFill>
              </a:defRPr>
            </a:pPr>
            <a:r>
              <a:t>GovTech Business Model: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Tiered SaaS subscription for Smart Cities (Chennai, Bengaluru, Mumbai) + API licensing for utility contractors.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257800" cy="44805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6EE7B7"/>
                </a:solidFill>
              </a:defRPr>
            </a:pPr>
            <a:r>
              <a:t>Live Demonstration Script for Judges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1. Real Pothole Test Case: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Click preset or upload real crater. Instant verification: APPROVED (98.6% authenticity, ₹12,500 budget).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2. Anti-Fraud Demonstration: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Upload Midjourney AI fake or dog photo. Instant verification: REJECTED with clear forensic reason.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3. GIS Sensor Grid: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Switch to Command Center. View live hazard heatmap, ward green scores, and incident queue.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4. Automated OM Dispatch: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Resolve ticket. Citizen immediately receives Official Memorandum email with attached completion PDF.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