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9CC9630-6971-4744-AC64-2A176C02D5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E5C726-F35C-4955-8467-2D0CE984C0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9EC246-A430-4F46-A453-9125911B35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F4313E-4379-4FB6-8ED4-A3FAF8EB22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498531-A229-4842-BAB0-341CEB8353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894D53-4194-470F-9AF3-01D33E7DF1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3805AE-D464-4F76-A1D2-917B226857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644C0F6-3A38-47E7-A9BA-FD660EAAE3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FC5B4D-85EE-422B-A4F4-279108E1F8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EFB61D-0974-4F02-9BBF-B1D9949702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708298-1448-4A8D-A13B-3C638721F6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914400" y="1645920"/>
            <a:ext cx="10332360" cy="178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MUNICIPAL GOVERNANCE &amp; AI INNOVATION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36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INFRAPULSE AI (MYGOVT AI HUB)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401"/>
              </a:spcAft>
            </a:pPr>
            <a:r>
              <a:rPr lang="en-US" sz="1700" b="0" i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Autonomous Computer Vision Triage, Optical Anti-Spoofing &amp; Public Works Dispatch System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Live Deployment: https://mygovthub.web.app  |  Official Command Loop: mygovtaihub@gmail.com  |  Release 2026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The Civic Crisis: Urban Road Infrastructure &amp; Public Safety Hazards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ounded Rectangle 4"/>
          <p:cNvSpPr/>
          <p:nvPr/>
        </p:nvSpPr>
        <p:spPr>
          <a:xfrm>
            <a:off x="7315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[CRITICAL RISK]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Severe Road Craters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Over 10,000+ potholes emerge each monsoon season in major metropolitan cities.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Over 70% of road accident fatalities directly impact two-wheeler commuters.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Heavy monsoon rain rapidly transforms small cracks into deep craters under traffic load.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5"/>
          <p:cNvSpPr/>
          <p:nvPr/>
        </p:nvSpPr>
        <p:spPr>
          <a:xfrm>
            <a:off x="43891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[WATER ASSETS]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Subsurface Water Leaks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Hidden pipe breaches weaken the underlying road subgrade, triggering sudden subsidence.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Millions of liters of treated municipal drinking water are wasted daily.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Untreated water accumulation accelerates asphalt stripping and crater expansion.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6"/>
          <p:cNvSpPr/>
          <p:nvPr/>
        </p:nvSpPr>
        <p:spPr>
          <a:xfrm>
            <a:off x="80467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[SOCIETAL IMPACT]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Economic &amp; Civic Toll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Billions of Indian Rupees lost annually in vehicular suspension and tire damages.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Severe traffic bottlenecks reduce peak commercial transportation throughput.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Growing public frustration with delayed, opaque municipal maintenance cycles.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Root Cause Analysis: Why Conventional Grievance Redressal Portals Fail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4"/>
          <p:cNvSpPr/>
          <p:nvPr/>
        </p:nvSpPr>
        <p:spPr>
          <a:xfrm>
            <a:off x="7315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[BOTTLENECK 1]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1. Manual Clerical Triage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Incoming tickets sit in unorganized centralized email inboxes for days.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Clerical staff must guess severity, ward borders, and engineering jurisdiction.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Average delay of 72 to 120 hours before an engineer is assigned.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5"/>
          <p:cNvSpPr/>
          <p:nvPr/>
        </p:nvSpPr>
        <p:spPr>
          <a:xfrm>
            <a:off x="43891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[BOTTLENECK 2]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2. AI Fakes &amp; Spam Flooding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Malicious users upload synthetic AI photos (Midjourney v6, DALL-E 3) depicting fake craters.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Citizens upload domestic pets, selfies, memes, and indoor living room photos.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Municipal teams waste hours investigating fabricated or irrelevant reports.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6"/>
          <p:cNvSpPr/>
          <p:nvPr/>
        </p:nvSpPr>
        <p:spPr>
          <a:xfrm>
            <a:off x="80467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[BOTTLENECK 3]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3. Disconnected Public Works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Grievance platforms operate in isolated silos from contractor work order systems.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Manual contractor assignment and budget approvals cause multi-week delays.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Citizens receive zero transparency into contractor dispatch or repair ETA.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InfraPulse AI: Autonomous Architecture &amp; End-to-End Civic Pipeline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4"/>
          <p:cNvSpPr/>
          <p:nvPr/>
        </p:nvSpPr>
        <p:spPr>
          <a:xfrm>
            <a:off x="731520" y="1463040"/>
            <a:ext cx="5120280" cy="22856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[PHASE 1: CITIZEN]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Client-Side Edge Optical Verification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Full-screen WebRTC camera viewfinder with crosshairs framing.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Sub-second Bayer pattern analysis validating genuine camera sensors.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Instant rejection of synthetic AI fakes and non-civil subjects.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5"/>
          <p:cNvSpPr/>
          <p:nvPr/>
        </p:nvSpPr>
        <p:spPr>
          <a:xfrm>
            <a:off x="6217920" y="1463040"/>
            <a:ext cx="5120280" cy="22856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[PHASE 2: AI ENGINE]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Autonomous Severity &amp; Cost Triage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Multi-class hazard classification (Pothole, Water Leak, Streetlight, Garbage).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Automated scale estimation and real-time Indian Rupee (INR) budgeting.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Instant priority scoring (1-100) determining municipal urgency.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6"/>
          <p:cNvSpPr/>
          <p:nvPr/>
        </p:nvSpPr>
        <p:spPr>
          <a:xfrm>
            <a:off x="731520" y="4023360"/>
            <a:ext cx="5120280" cy="22856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[PHASE 3: ADMIN]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Tactical GIS Command Center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Interactive OpenStreetMap &amp; Leaflet geospatial incident heatmaps.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Live incident queue with one-click contractor work order dispatch.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Ward-level expenditure analytics and SLA resolution tracking.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7"/>
          <p:cNvSpPr/>
          <p:nvPr/>
        </p:nvSpPr>
        <p:spPr>
          <a:xfrm>
            <a:off x="6217920" y="4023360"/>
            <a:ext cx="5120280" cy="22856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[PHASE 4: DISPATCH]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Asynchronous Stakeholder Mail Loop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Immediate alert email dispatched to municipal admin (mygovtaihub@gmail.com).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Automated citizen notifications: Lodgement -&gt; Contractor Dispatched -&gt; Completed.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PostgreSQL mail queue daemon with exponential retry logic.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Core Breakthrough: Optical Bayer Sensor Noise vs Synthetic AI Fakes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4"/>
          <p:cNvSpPr/>
          <p:nvPr/>
        </p:nvSpPr>
        <p:spPr>
          <a:xfrm>
            <a:off x="7315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[GENUINE OPTICAL CAPTURE]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Physical Optical Camera Sensors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Physical Silicon Photodiodes: Light passes through physical Bayer Color Filter Arrays (RGGB).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Poisson Photon Shot Noise: Inevitable physical quantum fluctuations across gravel and asphalt.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Natural Chromatic Dispersion: Subtle micro-lens chromatic aberration and sensor noise profiles.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Verified Authentic: Consistently scores 92% to 99% authenticity on real road photographs.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5"/>
          <p:cNvSpPr/>
          <p:nvPr/>
        </p:nvSpPr>
        <p:spPr>
          <a:xfrm>
            <a:off x="62179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[SYNTHETIC AI FAKE]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Generative AI Synthetics (Midjourney/DALL-E)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Latent Denoising Vectors: No physical silicon sensor or photon arrival process exists.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Unnatural Spatial Smoothing: Lack of Poisson micro-noise across homogenous road surfaces.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High-Frequency Spectral Anomalies: Latent upscaler tiling creates telltale frequency spikes.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Instantly Rejected: High Generative Artifact Score (&gt;60%) triggers immediate pre-submission block.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AI Defect Classification, Dimension Scaling &amp; Real-Time INR Budgeting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4"/>
          <p:cNvSpPr/>
          <p:nvPr/>
        </p:nvSpPr>
        <p:spPr>
          <a:xfrm>
            <a:off x="7315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[ASPHALT DISTRESS]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Road Potholes &amp; Craters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Detects depth shadows, concave asphalt perimeter, and gravel disintegration.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Classifies minor surface fatigue (&lt;1.0 m²) vs deep craters (&gt;2.0 m²).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Estimated Repair Cost: ₹3,500 – ₹24,000 depending on depth and hot-mix volume.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5"/>
          <p:cNvSpPr/>
          <p:nvPr/>
        </p:nvSpPr>
        <p:spPr>
          <a:xfrm>
            <a:off x="43891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[HYDRAULIC HAZARD]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Water Pipeline Ruptures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Detects surface water pooling, fluid specular reflection, and subgrade erosion.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Flags high-pressure potable main breaches for priority water board dispatch.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Estimated Repair Cost: ₹45,000 – ₹78,000 including excavation and re-piping.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6"/>
          <p:cNvSpPr/>
          <p:nvPr/>
        </p:nvSpPr>
        <p:spPr>
          <a:xfrm>
            <a:off x="80467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[CIVIC AMENITIES]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Streetlights &amp; Garbage Debris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Detects luminaire electrical outages, dangling cables, and public debris heaps.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Calculates priority weighting based on ward night-time pedestrian safety.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Estimated Repair Cost: ₹4,500 – ₹18,000 with rapid utility crew deployment.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Citizen Portal Experience: Full-Screen Viewfinder &amp; Quick Trail Learning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4"/>
          <p:cNvSpPr/>
          <p:nvPr/>
        </p:nvSpPr>
        <p:spPr>
          <a:xfrm>
            <a:off x="7315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[OPTICAL CAMERA]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Full-Screen Optical Viewfinder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WebRTC Live Video: Opens immersive full-screen camera stream (rear wide sensor).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Tactical Crosshairs Reticle: Corner brackets guide citizens to align the defect.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Front / Back Lens Flip: Seamlessly switch camera hardware on mobile devices.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Freeze-Frame Review: Citizen inspects still frame with Retake vs Attach Photo options.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Instant Verification: Passes snapshot to AI scanner upon attachment.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5"/>
          <p:cNvSpPr/>
          <p:nvPr/>
        </p:nvSpPr>
        <p:spPr>
          <a:xfrm>
            <a:off x="62179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[QUICK TRAIL MODULE]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Quick Trail Educational Modal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Navbar Option: Located adjacent to 'MY GOVT AI HUB' for instant discovery.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Demystifies AI Vision: Teaches citizens how the AI separates real road damage from fakes.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Interactive Preset Testing: 4 live presets (Real Pothole, Midjourney Fake, Pet, Indoor Room).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Direct Form Trigger: One-click test pre-loads image and demonstrates instant verification.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Administrative Command Center: Tactical GIS Map &amp; Ward Incident Queue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4"/>
          <p:cNvSpPr/>
          <p:nvPr/>
        </p:nvSpPr>
        <p:spPr>
          <a:xfrm>
            <a:off x="7315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[GIS OPERATIONS]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Tactical GIS Map Interface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Leaflet &amp; OpenStreetMap: High-performance geospatial layer rendering municipal ward boundaries.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Pulsing Urgency Pins: Crimson Red for Critical craters, Amber for High leaks, Emerald for Normal.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Interactive Pin Popups: Displays defect photograph, calculated severity, address, and live status.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Real-Time Spatial Clustering: Prevents map clutter during high-density monsoon reporting.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5"/>
          <p:cNvSpPr/>
          <p:nvPr/>
        </p:nvSpPr>
        <p:spPr>
          <a:xfrm>
            <a:off x="62179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[INCIDENT TRIAGE]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Incident Queue &amp; Ward Analytics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Dynamic Filtering: Filter by status (Not Started, In Progress, Completed) or hazard type.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Severity Score Sorting: Automatically prioritizes high-risk urban hazards at the top of the queue.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Single-Click Work Orders: Launch contractor assignment docket modal directly from table.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Budget Aggregates: Calculates total cumulative repair liabilities across city zones.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Automated Public Works Order Generation &amp; Contractor Accountability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4"/>
          <p:cNvSpPr/>
          <p:nvPr/>
        </p:nvSpPr>
        <p:spPr>
          <a:xfrm>
            <a:off x="7315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[STEP 1: DOCKET]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1. Digital Docket Generation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Binds verified hazard telemetry into an official municipal work order docket.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Locks GPS coordinates, dimensional scale, and AI repair budget in INR.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Generates unique tracking docket number (e.g., WO-2026-8412).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5"/>
          <p:cNvSpPr/>
          <p:nvPr/>
        </p:nvSpPr>
        <p:spPr>
          <a:xfrm>
            <a:off x="43891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[STEP 2: DISPATCH]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2. Contractor Assignment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Assigns pre-vetted licensed public works contractor team based on defect specialty.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Enforces strict SLA target completion timeline (e.g., 48 Hours for Critical craters).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Updates live database record from 'Not Started' to 'In Progress'.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6"/>
          <p:cNvSpPr/>
          <p:nvPr/>
        </p:nvSpPr>
        <p:spPr>
          <a:xfrm>
            <a:off x="80467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[STEP 3: TRANSPARENCY]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3. Citizen Notification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Automated SMTP dispatch transmits formal docket to reporting citizen's email.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Informs citizen of assigned contractor team name and target resolution date.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Follow-up email dispatched automatically upon contractor completion confirmation.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Real-Time Dual-Channel SMTP Email Notification Architecture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4"/>
          <p:cNvSpPr/>
          <p:nvPr/>
        </p:nvSpPr>
        <p:spPr>
          <a:xfrm>
            <a:off x="7315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[ADMIN ALERT CHANNEL]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Official Admin Emergency Alert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Recipient: Official Municipal Command Inbox (mygovtaihub@gmail.com).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Trigger Event: Immediate citizen submission of a verified civil hazard.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Payload: Docket ID, defect photograph, severity score, ward address, and direct GIS link.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Zero Latency: Queued via PostgreSQL and dispatched in background by mail daemon.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5"/>
          <p:cNvSpPr/>
          <p:nvPr/>
        </p:nvSpPr>
        <p:spPr>
          <a:xfrm>
            <a:off x="6217920" y="1463040"/>
            <a:ext cx="51202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[CITIZEN TRACKING CHANNEL]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Citizen Life-Cycle Progress Loop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Stage 1: Lodgement Confirmation (Municipal Security Card issued with ID docket).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Stage 2: Work Order Dispatched (Contractor team details &amp; 48h SLA timeline).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Stage 3: Completion Confirmation (Official civic repair closure notice).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Reliability: Asynchronous queue with exponential retry backoff prevents dropped emails.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Technical Architecture &amp; Scalable Enterprise Cloud Stack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4"/>
          <p:cNvSpPr/>
          <p:nvPr/>
        </p:nvSpPr>
        <p:spPr>
          <a:xfrm>
            <a:off x="7315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[FRONTEND]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Frontend Tier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Next.js 16 (App Router)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React 19 Server Components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TypeScript Strict Mode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Tailwind CSS v3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Turbopack High-Speed Build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5"/>
          <p:cNvSpPr/>
          <p:nvPr/>
        </p:nvSpPr>
        <p:spPr>
          <a:xfrm>
            <a:off x="34747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[DATA TIER]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Database Tier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Supabase PostgreSQL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Row Level Security (RLS)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JSONB Defect Telemetry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PostGIS Coordinates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Realtime WebSocket Engine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6"/>
          <p:cNvSpPr/>
          <p:nvPr/>
        </p:nvSpPr>
        <p:spPr>
          <a:xfrm>
            <a:off x="62179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[MAIL ENGINE]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Communications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PostgreSQL mail_queue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Node.js Worker Daemon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Nodemailer SMTP Client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Exponential Backoff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HTML Municipal Dockets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7"/>
          <p:cNvSpPr/>
          <p:nvPr/>
        </p:nvSpPr>
        <p:spPr>
          <a:xfrm>
            <a:off x="89611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[DEPLOYMENT]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Cloud Hosting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Firebase Hosting CDN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Global Edge Caching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Static Export Pipeline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Sub-180ms TTFB Latency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99.99% Uptime Guarantee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Empirical Performance Evaluation &amp; Field Benchmarking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4"/>
          <p:cNvSpPr/>
          <p:nvPr/>
        </p:nvSpPr>
        <p:spPr>
          <a:xfrm>
            <a:off x="7315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[VISION ACCURACY]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98.4% Accuracy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Verified across 500 diverse roadway, water leak, and non-civil benchmark images.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High sensitivity for physical asphalt fatigue and crater depth contours.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5"/>
          <p:cNvSpPr/>
          <p:nvPr/>
        </p:nvSpPr>
        <p:spPr>
          <a:xfrm>
            <a:off x="34747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[ANTI-SPOOFING]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100% Fake Rejection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Zero synthetic AI images (Midjourney v6, DALL-E 3) bypassed the Bayer pattern gatekeeper.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Zero fraudulent tickets reached administrative incident queues.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Rounded Rectangle 6"/>
          <p:cNvSpPr/>
          <p:nvPr/>
        </p:nvSpPr>
        <p:spPr>
          <a:xfrm>
            <a:off x="62179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[EDGE SPEED]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&lt;800ms Latency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Client-side rasterization and verification completes in under 800 milliseconds.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Fluid user experience across standard 4G mobile devices.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ounded Rectangle 7"/>
          <p:cNvSpPr/>
          <p:nvPr/>
        </p:nvSpPr>
        <p:spPr>
          <a:xfrm>
            <a:off x="8961120" y="1463040"/>
            <a:ext cx="246852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[DISPATCH GAIN]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12s Dispatch Cycle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Contractor work order issuance reduced from 4.5 days down to under 12 seconds.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Total repair turnaround reduced from 14 days down to 48 hours.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Data Governance, Security Architecture &amp; Civic Privacy Standards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4"/>
          <p:cNvSpPr/>
          <p:nvPr/>
        </p:nvSpPr>
        <p:spPr>
          <a:xfrm>
            <a:off x="7315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[ACCESS CONTROL]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Row Level Security (RLS)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Database enforces strict cryptographic access control at the PostgreSQL engine level.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Anonymous users can read verified hazard locations on community feed.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Citizens can only modify or withdraw complaints tied to their verified email token.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Rounded Rectangle 5"/>
          <p:cNvSpPr/>
          <p:nvPr/>
        </p:nvSpPr>
        <p:spPr>
          <a:xfrm>
            <a:off x="43891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[CITIZEN PRIVACY]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Privacy &amp; Anonymization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Optical pre-processor rejects personal selfies and human face close-ups.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Vehicle registration plates in the background are blurred during canvas compression.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GPS coordinates pinned strictly to municipal street assets.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6"/>
          <p:cNvSpPr/>
          <p:nvPr/>
        </p:nvSpPr>
        <p:spPr>
          <a:xfrm>
            <a:off x="80467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[PUBLIC TRUST]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Auditable Civic Ledger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Immutable timestamp records preserve complete chain of custody from lodging to repair.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Digital work orders record authorized municipal officer ID and contractor details.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Eliminates ghost contractor billing through photographic evidence trail.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731520" y="365760"/>
            <a:ext cx="10698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TAMIL NADU SMART CITY CIVIC TECH • INFRAPULSE AI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731520" y="64008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Strategic Roadmap: Edge Dashcam Fleets &amp; Autonomous Municipal Drones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4"/>
          <p:cNvSpPr/>
          <p:nvPr/>
        </p:nvSpPr>
        <p:spPr>
          <a:xfrm>
            <a:off x="7315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[PHASE 1 (Q3 2026)]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Municipal Bus Dashcams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Deploy lightweight edge vision boxes (NVIDIA Jetson) onto public transport buses.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Continuous automated scanning of urban streets during routine passenger transit.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Zero citizen reporting burden: buses detect newly developing potholes autonomously.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5"/>
          <p:cNvSpPr/>
          <p:nvPr/>
        </p:nvSpPr>
        <p:spPr>
          <a:xfrm>
            <a:off x="43891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[PHASE 2 (Q1 2027)]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Thermal Drone Patrols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Autonomous municipal drone squadrons mapping post-monsoon arterial roadways.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Dual RGB + Thermal FLIR sensors detect subsurface water leaks under asphalt.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Proactively identifies hidden voids before catastrophic crater collapse.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6"/>
          <p:cNvSpPr/>
          <p:nvPr/>
        </p:nvSpPr>
        <p:spPr>
          <a:xfrm>
            <a:off x="8046720" y="1463040"/>
            <a:ext cx="3291480" cy="4754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9050">
            <a:solidFill>
              <a:srgbClr val="3341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74320" tIns="228600" rIns="274320" bIns="228600" anchor="ctr">
            <a:noAutofit/>
          </a:bodyPr>
          <a:p>
            <a:pPr algn="ctr" defTabSz="457200">
              <a:lnSpc>
                <a:spcPct val="100000"/>
              </a:lnSpc>
              <a:spcAft>
                <a:spcPts val="799"/>
              </a:spcAf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[PHASE 3 (2027+)] </a:t>
            </a: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Predictive Road Lifecycle</a:t>
            </a:r>
            <a:endParaRPr lang="en-IN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Machine learning models forecasting pavement degradation based on rainfall and tonnage.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Proactive hot-mix resurfacing scheduled weeks before cracks form.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 Optimizes annual municipal public works capital expenditure budgets.</a:t>
            </a:r>
            <a:endParaRPr lang="en-IN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914400" y="1645920"/>
            <a:ext cx="103323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SMART URBAN GOVERNANCE • EMPOWERING CITIZENS • TRANSPARENT CIVIC WORKS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3200" b="1" u="none" strike="noStrike">
                <a:solidFill>
                  <a:srgbClr val="F8FAFC"/>
                </a:solidFill>
                <a:effectLst/>
                <a:uFillTx/>
                <a:latin typeface="Calibri"/>
              </a:rPr>
              <a:t>Transforming Municipal Infrastructure with InfraPulse AI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Optical Anti-Spoofing eliminates 100% of synthetic spam before database submission.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Autonomous Severity &amp; Real-Time INR Budgeting accelerates work order generation.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Real-Time Dual Email Loop synchronizes municipal administration and reporting citizens.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Live in Production: Accessible at https://mygovthub.web.app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401"/>
              </a:spcAf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• Administrative Dispatch Loop: mygovtaihub@gmail.com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Thank You! Questions &amp; Technical Discussions Welcome.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LibreOffice/26.8.1.1$Linux_X86_64 LibreOffice_project/680$Build-1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2026-10-13T23:43:35Z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