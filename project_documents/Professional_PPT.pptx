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GOVERNMENT OF TAMIL NADU • MUNICIPAL GOVERNANCE &amp; AI INNOVATION</a:t>
            </a:r>
          </a:p>
          <a:p>
            <a:pPr>
              <a:spcAft>
                <a:spcPts val="800"/>
              </a:spcAft>
            </a:pPr>
            <a:r>
              <a:rPr sz="3600" b="1">
                <a:solidFill>
                  <a:srgbClr val="F8FAFC"/>
                </a:solidFill>
                <a:latin typeface="Calibri"/>
              </a:rPr>
              <a:t>INFRAPULSE AI (MYGOVT AI HUB)</a:t>
            </a:r>
          </a:p>
          <a:p>
            <a:pPr>
              <a:spcAft>
                <a:spcPts val="2400"/>
              </a:spcAft>
            </a:pPr>
            <a:r>
              <a:rPr sz="1700" i="1">
                <a:solidFill>
                  <a:srgbClr val="06B6D4"/>
                </a:solidFill>
                <a:latin typeface="Calibri"/>
              </a:rPr>
              <a:t>Autonomous Computer Vision Triage, Optical Anti-Spoofing &amp; Public Works Dispatch System</a:t>
            </a:r>
          </a:p>
          <a:p>
            <a:r>
              <a:rPr sz="1100">
                <a:solidFill>
                  <a:srgbClr val="94A3B8"/>
                </a:solidFill>
                <a:latin typeface="Calibri"/>
              </a:rPr>
              <a:t>Live Deployment: https://mygovthub.web.app  |  Official Command Loop: mygovtaihub@gmail.com  |  Release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The Civic Crisis: Urban Road Infrastructure &amp; Public Safety Hazards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[CRITICAL RISK] </a:t>
            </a:r>
            <a:r>
              <a:rPr sz="1400" b="1">
                <a:solidFill>
                  <a:srgbClr val="F8FAFC"/>
                </a:solidFill>
                <a:latin typeface="Calibri"/>
              </a:rPr>
              <a:t>Severe Road Craters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Over 10,000+ potholes emerge each monsoon season in major metropolitan cities.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Over 70% of road accident fatalities directly impact two-wheeler commuters.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Heavy monsoon rain rapidly transforms small cracks into deep craters under traffic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[WATER ASSETS] </a:t>
            </a:r>
            <a:r>
              <a:rPr sz="1400" b="1">
                <a:solidFill>
                  <a:srgbClr val="F8FAFC"/>
                </a:solidFill>
                <a:latin typeface="Calibri"/>
              </a:rPr>
              <a:t>Subsurface Water Leaks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Hidden pipe breaches weaken the underlying road subgrade, triggering sudden subsidence.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Millions of liters of treated municipal drinking water are wasted daily.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Untreated water accumulation accelerates asphalt stripping and crater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[SOCIETAL IMPACT] </a:t>
            </a:r>
            <a:r>
              <a:rPr sz="1400" b="1">
                <a:solidFill>
                  <a:srgbClr val="F8FAFC"/>
                </a:solidFill>
                <a:latin typeface="Calibri"/>
              </a:rPr>
              <a:t>Economic &amp; Civic Toll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Billions of Indian Rupees lost annually in vehicular suspension and tire damages.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Severe traffic bottlenecks reduce peak commercial transportation throughput.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Growing public frustration with delayed, opaque municipal maintenance 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Root Cause Analysis: Why Conventional Grievance Redressal Portals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[BOTTLENECK 1] </a:t>
            </a:r>
            <a:r>
              <a:rPr sz="1400" b="1">
                <a:solidFill>
                  <a:srgbClr val="F8FAFC"/>
                </a:solidFill>
                <a:latin typeface="Calibri"/>
              </a:rPr>
              <a:t>1. Manual Clerical Triage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Incoming tickets sit in unorganized centralized email inboxes for days.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Clerical staff must guess severity, ward borders, and engineering jurisdiction.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Average delay of 72 to 120 hours before an engineer is assigned.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[BOTTLENECK 2] </a:t>
            </a:r>
            <a:r>
              <a:rPr sz="1400" b="1">
                <a:solidFill>
                  <a:srgbClr val="F8FAFC"/>
                </a:solidFill>
                <a:latin typeface="Calibri"/>
              </a:rPr>
              <a:t>2. AI Fakes &amp; Spam Flooding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Malicious users upload synthetic AI photos (Midjourney v6, DALL-E 3) depicting fake craters.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Citizens upload domestic pets, selfies, memes, and indoor living room photos.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Municipal teams waste hours investigating fabricated or irrelevant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[BOTTLENECK 3] </a:t>
            </a:r>
            <a:r>
              <a:rPr sz="1400" b="1">
                <a:solidFill>
                  <a:srgbClr val="F8FAFC"/>
                </a:solidFill>
                <a:latin typeface="Calibri"/>
              </a:rPr>
              <a:t>3. Disconnected Public Works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Grievance platforms operate in isolated silos from contractor work order systems.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Manual contractor assignment and budget approvals cause multi-week delays.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Citizens receive zero transparency into contractor dispatch or repair 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InfraPulse AI: Autonomous Architecture &amp; End-to-End Civic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[PHASE 1: CITIZEN] </a:t>
            </a:r>
            <a:r>
              <a:rPr sz="1400" b="1">
                <a:solidFill>
                  <a:srgbClr val="F8FAFC"/>
                </a:solidFill>
                <a:latin typeface="Calibri"/>
              </a:rPr>
              <a:t>Client-Side Edge Optical Verification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Full-screen WebRTC camera viewfinder with crosshairs framing.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Sub-second Bayer pattern analysis validating genuine camera sensors.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Instant rejection of synthetic AI fakes and non-civil subjects.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[PHASE 2: AI ENGINE] </a:t>
            </a:r>
            <a:r>
              <a:rPr sz="1400" b="1">
                <a:solidFill>
                  <a:srgbClr val="F8FAFC"/>
                </a:solidFill>
                <a:latin typeface="Calibri"/>
              </a:rPr>
              <a:t>Autonomous Severity &amp; Cost Triage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Multi-class hazard classification (Pothole, Water Leak, Streetlight, Garbage).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Automated scale estimation and real-time Indian Rupee (INR) budgeting.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Instant priority scoring (1-100) determining municipal urgency.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[PHASE 3: ADMIN] </a:t>
            </a:r>
            <a:r>
              <a:rPr sz="1400" b="1">
                <a:solidFill>
                  <a:srgbClr val="F8FAFC"/>
                </a:solidFill>
                <a:latin typeface="Calibri"/>
              </a:rPr>
              <a:t>Tactical GIS Command Center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Interactive OpenStreetMap &amp; Leaflet geospatial incident heatmaps.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Live incident queue with one-click contractor work order dispatch.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Ward-level expenditure analytics and SLA resolution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[PHASE 4: DISPATCH] </a:t>
            </a:r>
            <a:r>
              <a:rPr sz="1400" b="1">
                <a:solidFill>
                  <a:srgbClr val="F8FAFC"/>
                </a:solidFill>
                <a:latin typeface="Calibri"/>
              </a:rPr>
              <a:t>Asynchronous Stakeholder Mail Loop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Immediate alert email dispatched to municipal admin (mygovtaihub@gmail.com).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Automated citizen notifications: Lodgement -&gt; Contractor Dispatched -&gt; Completed.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PostgreSQL mail queue daemon with exponential retry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Core Breakthrough: Optical Bayer Sensor Noise vs Synthetic AI Fakes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[GENUINE OPTICAL CAPTURE] </a:t>
            </a:r>
            <a:r>
              <a:rPr sz="1400" b="1">
                <a:solidFill>
                  <a:srgbClr val="F8FAFC"/>
                </a:solidFill>
                <a:latin typeface="Calibri"/>
              </a:rPr>
              <a:t>Physical Optical Camera Sensors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Physical Silicon Photodiodes: Light passes through physical Bayer Color Filter Arrays (RGGB).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Poisson Photon Shot Noise: Inevitable physical quantum fluctuations across gravel and asphalt.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Natural Chromatic Dispersion: Subtle micro-lens chromatic aberration and sensor noise profiles.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Verified Authentic: Consistently scores 92% to 99% authenticity on real road photographs.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[SYNTHETIC AI FAKE] </a:t>
            </a:r>
            <a:r>
              <a:rPr sz="1400" b="1">
                <a:solidFill>
                  <a:srgbClr val="F8FAFC"/>
                </a:solidFill>
                <a:latin typeface="Calibri"/>
              </a:rPr>
              <a:t>Generative AI Synthetics (Midjourney/DALL-E)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Latent Denoising Vectors: No physical silicon sensor or photon arrival process exists.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Unnatural Spatial Smoothing: Lack of Poisson micro-noise across homogenous road surfaces.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High-Frequency Spectral Anomalies: Latent upscaler tiling creates telltale frequency spikes.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Instantly Rejected: High Generative Artifact Score (&gt;60%) triggers immediate pre-submission block.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AI Defect Classification, Dimension Scaling &amp; Real-Time INR Budgeting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[ASPHALT DISTRESS] </a:t>
            </a:r>
            <a:r>
              <a:rPr sz="1400" b="1">
                <a:solidFill>
                  <a:srgbClr val="F8FAFC"/>
                </a:solidFill>
                <a:latin typeface="Calibri"/>
              </a:rPr>
              <a:t>Road Potholes &amp; Craters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Detects depth shadows, concave asphalt perimeter, and gravel disintegration.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Classifies minor surface fatigue (&lt;1.0 m²) vs deep craters (&gt;2.0 m²).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Estimated Repair Cost: ₹3,500 – ₹24,000 depending on depth and hot-mix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[HYDRAULIC HAZARD] </a:t>
            </a:r>
            <a:r>
              <a:rPr sz="1400" b="1">
                <a:solidFill>
                  <a:srgbClr val="F8FAFC"/>
                </a:solidFill>
                <a:latin typeface="Calibri"/>
              </a:rPr>
              <a:t>Water Pipeline Ruptures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Detects surface water pooling, fluid specular reflection, and subgrade erosion.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Flags high-pressure potable main breaches for priority water board dispatch.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Estimated Repair Cost: ₹45,000 – ₹78,000 including excavation and re-piping.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[CIVIC AMENITIES] </a:t>
            </a:r>
            <a:r>
              <a:rPr sz="1400" b="1">
                <a:solidFill>
                  <a:srgbClr val="F8FAFC"/>
                </a:solidFill>
                <a:latin typeface="Calibri"/>
              </a:rPr>
              <a:t>Streetlights &amp; Garbage Debris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Detects luminaire electrical outages, dangling cables, and public debris heaps.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Calculates priority weighting based on ward night-time pedestrian safety.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Estimated Repair Cost: ₹4,500 – ₹18,000 with rapid utility crew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Citizen Portal Experience: Full-Screen Viewfinder &amp; Quick Trail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[OPTICAL CAMERA] </a:t>
            </a:r>
            <a:r>
              <a:rPr sz="1400" b="1">
                <a:solidFill>
                  <a:srgbClr val="F8FAFC"/>
                </a:solidFill>
                <a:latin typeface="Calibri"/>
              </a:rPr>
              <a:t>Full-Screen Optical Viewfinder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WebRTC Live Video: Opens immersive full-screen camera stream (rear wide sensor).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Tactical Crosshairs Reticle: Corner brackets guide citizens to align the defect.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Front / Back Lens Flip: Seamlessly switch camera hardware on mobile devices.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Freeze-Frame Review: Citizen inspects still frame with Retake vs Attach Photo options.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Instant Verification: Passes snapshot to AI scanner upon attachment.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[QUICK TRAIL MODULE] </a:t>
            </a:r>
            <a:r>
              <a:rPr sz="1400" b="1">
                <a:solidFill>
                  <a:srgbClr val="F8FAFC"/>
                </a:solidFill>
                <a:latin typeface="Calibri"/>
              </a:rPr>
              <a:t>Quick Trail Educational Modal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Navbar Option: Located adjacent to 'MY GOVT AI HUB' for instant discovery.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Demystifies AI Vision: Teaches citizens how the AI separates real road damage from fakes.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Interactive Preset Testing: 4 live presets (Real Pothole, Midjourney Fake, Pet, Indoor Room).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Direct Form Trigger: One-click test pre-loads image and demonstrates instant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Administrative Command Center: Tactical GIS Map &amp; Ward Incident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[GIS OPERATIONS] </a:t>
            </a:r>
            <a:r>
              <a:rPr sz="1400" b="1">
                <a:solidFill>
                  <a:srgbClr val="F8FAFC"/>
                </a:solidFill>
                <a:latin typeface="Calibri"/>
              </a:rPr>
              <a:t>Tactical GIS Map Interface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Leaflet &amp; OpenStreetMap: High-performance geospatial layer rendering municipal ward boundaries.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Pulsing Urgency Pins: Crimson Red for Critical craters, Amber for High leaks, Emerald for Normal.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Interactive Pin Popups: Displays defect photograph, calculated severity, address, and live status.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Real-Time Spatial Clustering: Prevents map clutter during high-density monsoon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[INCIDENT TRIAGE] </a:t>
            </a:r>
            <a:r>
              <a:rPr sz="1400" b="1">
                <a:solidFill>
                  <a:srgbClr val="F8FAFC"/>
                </a:solidFill>
                <a:latin typeface="Calibri"/>
              </a:rPr>
              <a:t>Incident Queue &amp; Ward Analytics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Dynamic Filtering: Filter by status (Not Started, In Progress, Completed) or hazard type.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Severity Score Sorting: Automatically prioritizes high-risk urban hazards at the top of the queue.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Single-Click Work Orders: Launch contractor assignment docket modal directly from table.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Budget Aggregates: Calculates total cumulative repair liabilities across city zones.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Automated Public Works Order Generation &amp; Contractor Accountability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[STEP 1: DOCKET] </a:t>
            </a:r>
            <a:r>
              <a:rPr sz="1400" b="1">
                <a:solidFill>
                  <a:srgbClr val="F8FAFC"/>
                </a:solidFill>
                <a:latin typeface="Calibri"/>
              </a:rPr>
              <a:t>1. Digital Docket Generation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Binds verified hazard telemetry into an official municipal work order docket.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Locks GPS coordinates, dimensional scale, and AI repair budget in INR.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Generates unique tracking docket number (e.g., WO-2026-8412).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[STEP 2: DISPATCH] </a:t>
            </a:r>
            <a:r>
              <a:rPr sz="1400" b="1">
                <a:solidFill>
                  <a:srgbClr val="F8FAFC"/>
                </a:solidFill>
                <a:latin typeface="Calibri"/>
              </a:rPr>
              <a:t>2. Contractor Assignment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Assigns pre-vetted licensed public works contractor team based on defect specialty.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Enforces strict SLA target completion timeline (e.g., 48 Hours for Critical craters).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Updates live database record from 'Not Started' to 'In Progress'.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[STEP 3: TRANSPARENCY] </a:t>
            </a:r>
            <a:r>
              <a:rPr sz="1400" b="1">
                <a:solidFill>
                  <a:srgbClr val="F8FAFC"/>
                </a:solidFill>
                <a:latin typeface="Calibri"/>
              </a:rPr>
              <a:t>3. Citizen Notification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Automated SMTP dispatch transmits formal docket to reporting citizen's email.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Informs citizen of assigned contractor team name and target resolution date.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Follow-up email dispatched automatically upon contractor completion confirmation.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Real-Time Dual-Channel SMTP Email Notification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[ADMIN ALERT CHANNEL] </a:t>
            </a:r>
            <a:r>
              <a:rPr sz="1400" b="1">
                <a:solidFill>
                  <a:srgbClr val="F8FAFC"/>
                </a:solidFill>
                <a:latin typeface="Calibri"/>
              </a:rPr>
              <a:t>Official Admin Emergency Alert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Recipient: Official Municipal Command Inbox (mygovtaihub@gmail.com).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Trigger Event: Immediate citizen submission of a verified civil hazard.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Payload: Docket ID, defect photograph, severity score, ward address, and direct GIS link.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Zero Latency: Queued via PostgreSQL and dispatched in background by mail daemon.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[CITIZEN TRACKING CHANNEL] </a:t>
            </a:r>
            <a:r>
              <a:rPr sz="1400" b="1">
                <a:solidFill>
                  <a:srgbClr val="F8FAFC"/>
                </a:solidFill>
                <a:latin typeface="Calibri"/>
              </a:rPr>
              <a:t>Citizen Life-Cycle Progress Loop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Stage 1: Lodgement Confirmation (Municipal Security Card issued with ID docket).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Stage 2: Work Order Dispatched (Contractor team details &amp; 48h SLA timeline).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Stage 3: Completion Confirmation (Official civic repair closure notice).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Reliability: Asynchronous queue with exponential retry backoff prevents dropped emails.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Technical Architecture &amp; Scalable Enterprise Cloud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[FRONTEND] </a:t>
            </a:r>
            <a:r>
              <a:rPr sz="1400" b="1">
                <a:solidFill>
                  <a:srgbClr val="F8FAFC"/>
                </a:solidFill>
                <a:latin typeface="Calibri"/>
              </a:rPr>
              <a:t>Frontend Tier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Next.js 16 (App Router)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React 19 Server Components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TypeScript Strict Mode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Tailwind CSS v3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Turbopack High-Speed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[DATA TIER] </a:t>
            </a:r>
            <a:r>
              <a:rPr sz="1400" b="1">
                <a:solidFill>
                  <a:srgbClr val="F8FAFC"/>
                </a:solidFill>
                <a:latin typeface="Calibri"/>
              </a:rPr>
              <a:t>Database Tier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Supabase PostgreSQL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Row Level Security (RLS)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JSONB Defect Telemetry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PostGIS Coordinates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Realtime WebSocket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[MAIL ENGINE] </a:t>
            </a:r>
            <a:r>
              <a:rPr sz="1400" b="1">
                <a:solidFill>
                  <a:srgbClr val="F8FAFC"/>
                </a:solidFill>
                <a:latin typeface="Calibri"/>
              </a:rPr>
              <a:t>Communications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PostgreSQL mail_queue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Node.js Worker Daemon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Nodemailer SMTP Client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Exponential Backoff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HTML Municipal Dockets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[DEPLOYMENT] </a:t>
            </a:r>
            <a:r>
              <a:rPr sz="1400" b="1">
                <a:solidFill>
                  <a:srgbClr val="F8FAFC"/>
                </a:solidFill>
                <a:latin typeface="Calibri"/>
              </a:rPr>
              <a:t>Cloud Hosting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Firebase Hosting CDN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Global Edge Caching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Static Export Pipeline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Sub-180ms TTFB Latency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99.99% Uptime Guarantee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Empirical Performance Evaluation &amp; Field Benchmarking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[VISION ACCURACY] </a:t>
            </a:r>
            <a:r>
              <a:rPr sz="1400" b="1">
                <a:solidFill>
                  <a:srgbClr val="F8FAFC"/>
                </a:solidFill>
                <a:latin typeface="Calibri"/>
              </a:rPr>
              <a:t>98.4% Accuracy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Verified across 500 diverse roadway, water leak, and non-civil benchmark images.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High sensitivity for physical asphalt fatigue and crater depth contours.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EF4444"/>
                </a:solidFill>
                <a:latin typeface="Calibri"/>
              </a:rPr>
              <a:t>[ANTI-SPOOFING] </a:t>
            </a:r>
            <a:r>
              <a:rPr sz="1400" b="1">
                <a:solidFill>
                  <a:srgbClr val="F8FAFC"/>
                </a:solidFill>
                <a:latin typeface="Calibri"/>
              </a:rPr>
              <a:t>100% Fake Rejection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Zero synthetic AI images (Midjourney v6, DALL-E 3) bypassed the Bayer pattern gatekeeper.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Zero fraudulent tickets reached administrative incident queues.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[EDGE SPEED] </a:t>
            </a:r>
            <a:r>
              <a:rPr sz="1400" b="1">
                <a:solidFill>
                  <a:srgbClr val="F8FAFC"/>
                </a:solidFill>
                <a:latin typeface="Calibri"/>
              </a:rPr>
              <a:t>&lt;800ms Latency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Client-side rasterization and verification completes in under 800 milliseconds.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Fluid user experience across standard 4G mobile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[DISPATCH GAIN] </a:t>
            </a:r>
            <a:r>
              <a:rPr sz="1400" b="1">
                <a:solidFill>
                  <a:srgbClr val="F8FAFC"/>
                </a:solidFill>
                <a:latin typeface="Calibri"/>
              </a:rPr>
              <a:t>12s Dispatch Cycle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Contractor work order issuance reduced from 4.5 days down to under 12 seconds.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Total repair turnaround reduced from 14 days down to 48 hours.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Data Governance, Security Architecture &amp; Civic Privacy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[ACCESS CONTROL] </a:t>
            </a:r>
            <a:r>
              <a:rPr sz="1400" b="1">
                <a:solidFill>
                  <a:srgbClr val="F8FAFC"/>
                </a:solidFill>
                <a:latin typeface="Calibri"/>
              </a:rPr>
              <a:t>Row Level Security (RLS)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Database enforces strict cryptographic access control at the PostgreSQL engine level.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Anonymous users can read verified hazard locations on community feed.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Citizens can only modify or withdraw complaints tied to their verified email token.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[CITIZEN PRIVACY] </a:t>
            </a:r>
            <a:r>
              <a:rPr sz="1400" b="1">
                <a:solidFill>
                  <a:srgbClr val="F8FAFC"/>
                </a:solidFill>
                <a:latin typeface="Calibri"/>
              </a:rPr>
              <a:t>Privacy &amp; Anonymization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Optical pre-processor rejects personal selfies and human face close-ups.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Vehicle registration plates in the background are blurred during canvas compression.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GPS coordinates pinned strictly to municipal street assets.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[PUBLIC TRUST] </a:t>
            </a:r>
            <a:r>
              <a:rPr sz="1400" b="1">
                <a:solidFill>
                  <a:srgbClr val="F8FAFC"/>
                </a:solidFill>
                <a:latin typeface="Calibri"/>
              </a:rPr>
              <a:t>Auditable Civic Ledger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Immutable timestamp records preserve complete chain of custody from lodging to repair.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Digital work orders record authorized municipal officer ID and contractor details.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Eliminates ghost contractor billing through photographic evidence trail.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alibri"/>
              </a:rPr>
              <a:t>TAMIL NADU SMART CITY CIVIC TECH • INFRAPULSE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Calibri"/>
              </a:rPr>
              <a:t>Strategic Roadmap: Edge Dashcam Fleets &amp; Autonomous Municipal Drones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[PHASE 1 (Q3 2026)] </a:t>
            </a:r>
            <a:r>
              <a:rPr sz="1400" b="1">
                <a:solidFill>
                  <a:srgbClr val="F8FAFC"/>
                </a:solidFill>
                <a:latin typeface="Calibri"/>
              </a:rPr>
              <a:t>Municipal Bus Dashcams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Deploy lightweight edge vision boxes (NVIDIA Jetson) onto public transport buses.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Continuous automated scanning of urban streets during routine passenger transit.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Zero citizen reporting burden: buses detect newly developing potholes autonomously.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[PHASE 2 (Q1 2027)] </a:t>
            </a:r>
            <a:r>
              <a:rPr sz="1400" b="1">
                <a:solidFill>
                  <a:srgbClr val="F8FAFC"/>
                </a:solidFill>
                <a:latin typeface="Calibri"/>
              </a:rPr>
              <a:t>Thermal Drone Patrols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Autonomous municipal drone squadrons mapping post-monsoon arterial roadways.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Dual RGB + Thermal FLIR sensors detect subsurface water leaks under asphalt.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Proactively identifies hidden voids before catastrophic crater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[PHASE 3 (2027+)] </a:t>
            </a:r>
            <a:r>
              <a:rPr sz="1400" b="1">
                <a:solidFill>
                  <a:srgbClr val="F8FAFC"/>
                </a:solidFill>
                <a:latin typeface="Calibri"/>
              </a:rPr>
              <a:t>Predictive Road Lifecycle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Machine learning models forecasting pavement degradation based on rainfall and tonnage.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Proactive hot-mix resurfacing scheduled weeks before cracks form.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•  Optimizes annual municipal public works capital expenditure budgets.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SMART URBAN GOVERNANCE • EMPOWERING CITIZENS • TRANSPARENT CIVIC WORKS</a:t>
            </a:r>
          </a:p>
          <a:p>
            <a:pPr>
              <a:spcAft>
                <a:spcPts val="12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Transforming Municipal Infrastructure with InfraPulse AI</a:t>
            </a:r>
          </a:p>
          <a:p>
            <a:pPr>
              <a:spcAft>
                <a:spcPts val="2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• Optical Anti-Spoofing eliminates 100% of synthetic spam before database submission.
• Autonomous Severity &amp; Real-Time INR Budgeting accelerates work order generation.
• Real-Time Dual Email Loop synchronizes municipal administration and reporting citizens.
• Live in Production: Accessible at https://mygovthub.web.app
• Administrative Dispatch Loop: mygovtaihub@gmail.com</a:t>
            </a:r>
          </a:p>
          <a:p>
            <a:r>
              <a:rPr sz="1800" b="1">
                <a:solidFill>
                  <a:srgbClr val="06B6D4"/>
                </a:solidFill>
                <a:latin typeface="Calibri"/>
              </a:rPr>
              <a:t>Thank You! Questions &amp; Technical Discussions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